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8288000" cy="10287000"/>
  <p:notesSz cx="7559675" cy="10691813"/>
  <p:embeddedFontLst>
    <p:embeddedFont>
      <p:font typeface="Aileron Italics"/>
    </p:embeddedFont>
    <p:embeddedFont>
      <p:font typeface="Open Sauce Medium"/>
    </p:embeddedFont>
    <p:embeddedFont>
      <p:font typeface="Montserrat"/>
      <p:regular r:id="rId8"/>
    </p:embeddedFont>
    <p:embeddedFont>
      <p:font typeface="Montserrat Ultra-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font" Target="fonts/Font_1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9880" cy="135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9880" cy="149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0F912E-EF4A-4CC9-8AB4-BF3CAA292B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596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40CCF3-7542-4019-8549-435481E119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776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776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200" cy="63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200" cy="3948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0BFDDF3-EC79-44A4-8E80-4ABDF58A8F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E0E15E-C4AB-45F6-A795-952CF15FBA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9DBED2-2143-462B-B951-B92337EBDF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6680" cy="171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6680" cy="596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5640" cy="115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12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5640" cy="468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E46B97-4EB6-4CBE-8C8F-FD16223ADF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3880" cy="56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3880" cy="411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3880" cy="80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5652F7-3816-4D83-B13D-DDB8283B74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9880" cy="146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8AB7000-4391-465E-81F8-065EBB4DDC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359F93E-08FE-4552-AA98-A678B92FB0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488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400" cy="584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2F1313-43BF-4B4E-AFB9-37778B0121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080" cy="1140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080" cy="452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296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20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5FE29E-FC75-41A9-86A5-119EFBD106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eg"/><Relationship Id="rId6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2"/>
          <p:cNvSpPr/>
          <p:nvPr/>
        </p:nvSpPr>
        <p:spPr>
          <a:xfrm>
            <a:off x="159120" y="1158840"/>
            <a:ext cx="17967240" cy="35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4031"/>
              </a:lnSpc>
              <a:tabLst>
                <a:tab pos="0" algn="l"/>
              </a:tabLst>
            </a:pPr>
            <a:r>
              <a:rPr lang="en-US" sz="96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Finding the right job has become a full-time job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Freeform 29"/>
          <p:cNvSpPr/>
          <p:nvPr/>
        </p:nvSpPr>
        <p:spPr>
          <a:xfrm rot="78600">
            <a:off x="4020120" y="4893120"/>
            <a:ext cx="9249480" cy="5571720"/>
          </a:xfrm>
          <a:custGeom>
            <a:avLst/>
            <a:gdLst>
              <a:gd name="textAreaLeft" fmla="*/ 0 w 9249480"/>
              <a:gd name="textAreaRight" fmla="*/ 9252000 w 9249480"/>
              <a:gd name="textAreaTop" fmla="*/ 0 h 5571720"/>
              <a:gd name="textAreaBottom" fmla="*/ 5574240 h 5571720"/>
            </a:gdLst>
            <a:ahLst/>
            <a:cxnLst/>
            <a:rect l="textAreaLeft" t="textAreaTop" r="textAreaRight" b="textAreaBottom"/>
            <a:pathLst>
              <a:path w="9252142" h="5574415">
                <a:moveTo>
                  <a:pt x="0" y="0"/>
                </a:moveTo>
                <a:lnTo>
                  <a:pt x="9252141" y="0"/>
                </a:lnTo>
                <a:lnTo>
                  <a:pt x="9252141" y="5574415"/>
                </a:lnTo>
                <a:lnTo>
                  <a:pt x="0" y="55744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70000"/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40"/>
          <p:cNvGrpSpPr/>
          <p:nvPr/>
        </p:nvGrpSpPr>
        <p:grpSpPr>
          <a:xfrm>
            <a:off x="14040000" y="8100000"/>
            <a:ext cx="3966840" cy="756720"/>
            <a:chOff x="14040000" y="8100000"/>
            <a:chExt cx="3966840" cy="756720"/>
          </a:xfrm>
        </p:grpSpPr>
        <p:sp>
          <p:nvSpPr>
            <p:cNvPr id="64" name="Freeform 41"/>
            <p:cNvSpPr/>
            <p:nvPr/>
          </p:nvSpPr>
          <p:spPr>
            <a:xfrm>
              <a:off x="14040000" y="8100000"/>
              <a:ext cx="3966840" cy="756720"/>
            </a:xfrm>
            <a:custGeom>
              <a:avLst/>
              <a:gdLst>
                <a:gd name="textAreaLeft" fmla="*/ 0 w 3966840"/>
                <a:gd name="textAreaRight" fmla="*/ 3969360 w 3966840"/>
                <a:gd name="textAreaTop" fmla="*/ 0 h 756720"/>
                <a:gd name="textAreaBottom" fmla="*/ 759240 h 756720"/>
              </a:gdLst>
              <a:ahLst/>
              <a:cxnLst/>
              <a:rect l="textAreaLeft" t="textAreaTop" r="textAreaRight" b="textAreaBottom"/>
              <a:pathLst>
                <a:path w="2838855" h="406400">
                  <a:moveTo>
                    <a:pt x="2635655" y="0"/>
                  </a:moveTo>
                  <a:cubicBezTo>
                    <a:pt x="2747879" y="0"/>
                    <a:pt x="2838855" y="90976"/>
                    <a:pt x="2838855" y="203200"/>
                  </a:cubicBezTo>
                  <a:cubicBezTo>
                    <a:pt x="2838855" y="315424"/>
                    <a:pt x="2747879" y="406400"/>
                    <a:pt x="26356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F062D"/>
                </a:gs>
                <a:gs pos="20000">
                  <a:srgbClr val="0F062D"/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cap="sq" w="9525">
              <a:solidFill>
                <a:srgbClr val="EFEF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42"/>
            <p:cNvSpPr/>
            <p:nvPr/>
          </p:nvSpPr>
          <p:spPr>
            <a:xfrm>
              <a:off x="14040000" y="8100000"/>
              <a:ext cx="3966840" cy="75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6" name="TextBox 48"/>
          <p:cNvSpPr/>
          <p:nvPr/>
        </p:nvSpPr>
        <p:spPr>
          <a:xfrm>
            <a:off x="14004000" y="8172000"/>
            <a:ext cx="413784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"Job seekers don't need more job boards.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They need intelligence."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>
            <a:off x="540000" y="3960000"/>
            <a:ext cx="16920000" cy="5310720"/>
          </a:xfrm>
          <a:prstGeom prst="roundRect">
            <a:avLst>
              <a:gd name="adj" fmla="val 16667"/>
            </a:avLst>
          </a:prstGeom>
          <a:noFill/>
          <a:ln w="72000">
            <a:solidFill>
              <a:schemeClr val="l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26000" tIns="81000" rIns="126000" bIns="81000" anchor="ctr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8"/>
          <p:cNvSpPr/>
          <p:nvPr/>
        </p:nvSpPr>
        <p:spPr>
          <a:xfrm>
            <a:off x="1029240" y="1342440"/>
            <a:ext cx="14132880" cy="24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Key</a:t>
            </a:r>
            <a:r>
              <a:rPr lang="en-US" sz="8000" b="1" u="none" strike="noStrike">
                <a:solidFill>
                  <a:srgbClr val="292929"/>
                </a:solidFill>
                <a:effectLst/>
                <a:uFillTx/>
                <a:latin typeface="Montserrat Ultra-Bold"/>
                <a:ea typeface="Montserrat Ultra-Bold"/>
              </a:rPr>
              <a:t> </a:t>
            </a:r>
            <a:r>
              <a:rPr lang="en-US" sz="80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Pain Points in Job Searching</a:t>
            </a:r>
            <a:endParaRPr lang="pt-BR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59"/>
          <p:cNvSpPr/>
          <p:nvPr/>
        </p:nvSpPr>
        <p:spPr>
          <a:xfrm>
            <a:off x="2353680" y="4231800"/>
            <a:ext cx="3677040" cy="15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Job postings scattered across multiple channels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39"/>
          <p:cNvSpPr/>
          <p:nvPr/>
        </p:nvSpPr>
        <p:spPr>
          <a:xfrm>
            <a:off x="1149840" y="4302000"/>
            <a:ext cx="573840" cy="573840"/>
          </a:xfrm>
          <a:custGeom>
            <a:avLst/>
            <a:gdLst>
              <a:gd name="textAreaLeft" fmla="*/ 0 w 573840"/>
              <a:gd name="textAreaRight" fmla="*/ 576000 w 573840"/>
              <a:gd name="textAreaTop" fmla="*/ 0 h 573840"/>
              <a:gd name="textAreaBottom" fmla="*/ 576000 h 573840"/>
            </a:gdLst>
            <a:ahLst/>
            <a:cxnLst/>
            <a:rect l="textAreaLeft" t="textAreaTop" r="textAreaRight" b="textAreaBottom"/>
            <a:pathLst>
              <a:path w="575947" h="575947">
                <a:moveTo>
                  <a:pt x="0" y="0"/>
                </a:moveTo>
                <a:lnTo>
                  <a:pt x="575947" y="0"/>
                </a:lnTo>
                <a:lnTo>
                  <a:pt x="575947" y="575947"/>
                </a:lnTo>
                <a:lnTo>
                  <a:pt x="0" y="57594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65"/>
          <p:cNvSpPr/>
          <p:nvPr/>
        </p:nvSpPr>
        <p:spPr>
          <a:xfrm>
            <a:off x="2353680" y="6746400"/>
            <a:ext cx="3677040" cy="20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Lack of control over applications, status tracking &amp; documents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Freeform 42"/>
          <p:cNvSpPr/>
          <p:nvPr/>
        </p:nvSpPr>
        <p:spPr>
          <a:xfrm>
            <a:off x="1167120" y="6669000"/>
            <a:ext cx="539640" cy="817200"/>
          </a:xfrm>
          <a:custGeom>
            <a:avLst/>
            <a:gdLst>
              <a:gd name="textAreaLeft" fmla="*/ 0 w 539640"/>
              <a:gd name="textAreaRight" fmla="*/ 541800 w 539640"/>
              <a:gd name="textAreaTop" fmla="*/ 0 h 817200"/>
              <a:gd name="textAreaBottom" fmla="*/ 819360 h 817200"/>
            </a:gdLst>
            <a:ahLst/>
            <a:cxnLst/>
            <a:rect l="textAreaLeft" t="textAreaTop" r="textAreaRight" b="textAreaBottom"/>
            <a:pathLst>
              <a:path w="541778" h="819478">
                <a:moveTo>
                  <a:pt x="0" y="0"/>
                </a:moveTo>
                <a:lnTo>
                  <a:pt x="541777" y="0"/>
                </a:lnTo>
                <a:lnTo>
                  <a:pt x="541777" y="819478"/>
                </a:lnTo>
                <a:lnTo>
                  <a:pt x="0" y="819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6"/>
          <p:cNvSpPr/>
          <p:nvPr/>
        </p:nvSpPr>
        <p:spPr>
          <a:xfrm>
            <a:off x="7776000" y="4248000"/>
            <a:ext cx="3778200" cy="15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Job title searches miss relevant opportunities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Freeform 44"/>
          <p:cNvSpPr/>
          <p:nvPr/>
        </p:nvSpPr>
        <p:spPr>
          <a:xfrm>
            <a:off x="6786000" y="4299480"/>
            <a:ext cx="561960" cy="577440"/>
          </a:xfrm>
          <a:custGeom>
            <a:avLst/>
            <a:gdLst>
              <a:gd name="textAreaLeft" fmla="*/ 0 w 561960"/>
              <a:gd name="textAreaRight" fmla="*/ 564120 w 561960"/>
              <a:gd name="textAreaTop" fmla="*/ 0 h 577440"/>
              <a:gd name="textAreaBottom" fmla="*/ 579600 h 577440"/>
            </a:gdLst>
            <a:ahLst/>
            <a:cxnLst/>
            <a:rect l="textAreaLeft" t="textAreaTop" r="textAreaRight" b="textAreaBottom"/>
            <a:pathLst>
              <a:path w="564226" h="579436">
                <a:moveTo>
                  <a:pt x="0" y="0"/>
                </a:moveTo>
                <a:lnTo>
                  <a:pt x="564226" y="0"/>
                </a:lnTo>
                <a:lnTo>
                  <a:pt x="564226" y="579436"/>
                </a:lnTo>
                <a:lnTo>
                  <a:pt x="0" y="5794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67"/>
          <p:cNvSpPr/>
          <p:nvPr/>
        </p:nvSpPr>
        <p:spPr>
          <a:xfrm>
            <a:off x="7776000" y="6768000"/>
            <a:ext cx="4138200" cy="15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ATS systems reject candidates due to missing keywords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 46"/>
          <p:cNvSpPr/>
          <p:nvPr/>
        </p:nvSpPr>
        <p:spPr>
          <a:xfrm>
            <a:off x="6782400" y="6817320"/>
            <a:ext cx="571680" cy="571680"/>
          </a:xfrm>
          <a:custGeom>
            <a:avLst/>
            <a:gdLst>
              <a:gd name="textAreaLeft" fmla="*/ 0 w 571680"/>
              <a:gd name="textAreaRight" fmla="*/ 573840 w 571680"/>
              <a:gd name="textAreaTop" fmla="*/ 0 h 571680"/>
              <a:gd name="textAreaBottom" fmla="*/ 573840 h 571680"/>
            </a:gdLst>
            <a:ahLst/>
            <a:cxnLst/>
            <a:rect l="textAreaLeft" t="textAreaTop" r="textAreaRight" b="textAreaBottom"/>
            <a:pathLst>
              <a:path w="573997" h="573997">
                <a:moveTo>
                  <a:pt x="0" y="0"/>
                </a:moveTo>
                <a:lnTo>
                  <a:pt x="573998" y="0"/>
                </a:lnTo>
                <a:lnTo>
                  <a:pt x="573998" y="573997"/>
                </a:lnTo>
                <a:lnTo>
                  <a:pt x="0" y="57399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8"/>
          <p:cNvSpPr/>
          <p:nvPr/>
        </p:nvSpPr>
        <p:spPr>
          <a:xfrm>
            <a:off x="13616640" y="4231800"/>
            <a:ext cx="3589560" cy="20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Difficulty identifying compatible positions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48"/>
          <p:cNvSpPr/>
          <p:nvPr/>
        </p:nvSpPr>
        <p:spPr>
          <a:xfrm>
            <a:off x="12409920" y="4304160"/>
            <a:ext cx="579600" cy="569880"/>
          </a:xfrm>
          <a:custGeom>
            <a:avLst/>
            <a:gdLst>
              <a:gd name="textAreaLeft" fmla="*/ 0 w 579600"/>
              <a:gd name="textAreaRight" fmla="*/ 581760 w 579600"/>
              <a:gd name="textAreaTop" fmla="*/ 0 h 569880"/>
              <a:gd name="textAreaBottom" fmla="*/ 572040 h 569880"/>
            </a:gdLst>
            <a:ahLst/>
            <a:cxnLst/>
            <a:rect l="textAreaLeft" t="textAreaTop" r="textAreaRight" b="textAreaBottom"/>
            <a:pathLst>
              <a:path w="581655" h="572203">
                <a:moveTo>
                  <a:pt x="0" y="0"/>
                </a:moveTo>
                <a:lnTo>
                  <a:pt x="581655" y="0"/>
                </a:lnTo>
                <a:lnTo>
                  <a:pt x="581655" y="572203"/>
                </a:lnTo>
                <a:lnTo>
                  <a:pt x="0" y="57220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9"/>
          <p:cNvSpPr/>
          <p:nvPr/>
        </p:nvSpPr>
        <p:spPr>
          <a:xfrm>
            <a:off x="13616640" y="6746400"/>
            <a:ext cx="3677040" cy="20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102"/>
              </a:lnSpc>
              <a:tabLst>
                <a:tab pos="0" algn="l"/>
              </a:tabLst>
            </a:pPr>
            <a:r>
              <a:rPr lang="en-US" sz="293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Resume &amp; cover letter need customization for each application</a:t>
            </a:r>
            <a:endParaRPr lang="pt-BR" sz="2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Freeform 49"/>
          <p:cNvSpPr/>
          <p:nvPr/>
        </p:nvSpPr>
        <p:spPr>
          <a:xfrm>
            <a:off x="12411720" y="6820920"/>
            <a:ext cx="576000" cy="565920"/>
          </a:xfrm>
          <a:custGeom>
            <a:avLst/>
            <a:gdLst>
              <a:gd name="textAreaLeft" fmla="*/ 0 w 576000"/>
              <a:gd name="textAreaRight" fmla="*/ 578160 w 576000"/>
              <a:gd name="textAreaTop" fmla="*/ 0 h 565920"/>
              <a:gd name="textAreaBottom" fmla="*/ 568080 h 565920"/>
            </a:gdLst>
            <a:ahLst/>
            <a:cxnLst/>
            <a:rect l="textAreaLeft" t="textAreaTop" r="textAreaRight" b="textAreaBottom"/>
            <a:pathLst>
              <a:path w="578079" h="567962">
                <a:moveTo>
                  <a:pt x="0" y="0"/>
                </a:moveTo>
                <a:lnTo>
                  <a:pt x="578078" y="0"/>
                </a:lnTo>
                <a:lnTo>
                  <a:pt x="578078" y="567962"/>
                </a:lnTo>
                <a:lnTo>
                  <a:pt x="0" y="5679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8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Box 70"/>
          <p:cNvSpPr/>
          <p:nvPr/>
        </p:nvSpPr>
        <p:spPr>
          <a:xfrm rot="16200000">
            <a:off x="-595080" y="4782960"/>
            <a:ext cx="60253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600" b="1" u="none" spc="-431" strike="noStrike">
                <a:solidFill>
                  <a:srgbClr val="FFFFFF"/>
                </a:solidFill>
                <a:effectLst/>
                <a:uFillTx/>
                <a:latin typeface="Open Sauce Medium"/>
                <a:ea typeface="Open Sauce Medium"/>
              </a:rPr>
              <a:t>Latin</a:t>
            </a:r>
            <a:r>
              <a:rPr lang="en-US" sz="9600" b="1" u="none" spc="-431" strike="noStrike">
                <a:solidFill>
                  <a:srgbClr val="808080"/>
                </a:solidFill>
                <a:effectLst/>
                <a:uFillTx/>
                <a:latin typeface="Open Sauce Medium"/>
                <a:ea typeface="Open Sauce Medium"/>
              </a:rPr>
              <a:t> </a:t>
            </a:r>
            <a:r>
              <a:rPr lang="en-US" sz="9600" b="1" u="none" strike="noStrike">
                <a:solidFill>
                  <a:srgbClr val="FFFFFF"/>
                </a:solidFill>
                <a:effectLst/>
                <a:uFillTx/>
                <a:latin typeface="Open Sauce Medium"/>
                <a:ea typeface="Montserrat"/>
              </a:rPr>
              <a:t>America</a:t>
            </a:r>
            <a:endParaRPr lang="pt-BR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50"/>
          <p:cNvSpPr/>
          <p:nvPr/>
        </p:nvSpPr>
        <p:spPr>
          <a:xfrm>
            <a:off x="4239360" y="2294640"/>
            <a:ext cx="6919200" cy="7603920"/>
          </a:xfrm>
          <a:custGeom>
            <a:avLst/>
            <a:gdLst>
              <a:gd name="textAreaLeft" fmla="*/ 0 w 6919200"/>
              <a:gd name="textAreaRight" fmla="*/ 6921720 w 6919200"/>
              <a:gd name="textAreaTop" fmla="*/ 0 h 7603920"/>
              <a:gd name="textAreaBottom" fmla="*/ 7606440 h 7603920"/>
            </a:gdLst>
            <a:ahLst/>
            <a:cxnLst/>
            <a:rect l="textAreaLeft" t="textAreaTop" r="textAreaRight" b="textAreaBottom"/>
            <a:pathLst>
              <a:path w="675815" h="742661">
                <a:moveTo>
                  <a:pt x="40265" y="0"/>
                </a:moveTo>
                <a:lnTo>
                  <a:pt x="635550" y="0"/>
                </a:lnTo>
                <a:cubicBezTo>
                  <a:pt x="646229" y="0"/>
                  <a:pt x="656471" y="4242"/>
                  <a:pt x="664022" y="11793"/>
                </a:cubicBezTo>
                <a:cubicBezTo>
                  <a:pt x="671573" y="19345"/>
                  <a:pt x="675815" y="29586"/>
                  <a:pt x="675815" y="40265"/>
                </a:cubicBezTo>
                <a:lnTo>
                  <a:pt x="675815" y="702396"/>
                </a:lnTo>
                <a:cubicBezTo>
                  <a:pt x="675815" y="713075"/>
                  <a:pt x="671573" y="723316"/>
                  <a:pt x="664022" y="730868"/>
                </a:cubicBezTo>
                <a:cubicBezTo>
                  <a:pt x="656471" y="738419"/>
                  <a:pt x="646229" y="742661"/>
                  <a:pt x="635550" y="742661"/>
                </a:cubicBezTo>
                <a:lnTo>
                  <a:pt x="40265" y="742661"/>
                </a:lnTo>
                <a:cubicBezTo>
                  <a:pt x="29586" y="742661"/>
                  <a:pt x="19345" y="738419"/>
                  <a:pt x="11793" y="730868"/>
                </a:cubicBezTo>
                <a:cubicBezTo>
                  <a:pt x="4242" y="723316"/>
                  <a:pt x="0" y="713075"/>
                  <a:pt x="0" y="702396"/>
                </a:cubicBezTo>
                <a:lnTo>
                  <a:pt x="0" y="40265"/>
                </a:lnTo>
                <a:cubicBezTo>
                  <a:pt x="0" y="29586"/>
                  <a:pt x="4242" y="19345"/>
                  <a:pt x="11793" y="11793"/>
                </a:cubicBezTo>
                <a:cubicBezTo>
                  <a:pt x="19345" y="4242"/>
                  <a:pt x="29586" y="0"/>
                  <a:pt x="40265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cap="rnd" w="9525">
            <a:solidFill>
              <a:srgbClr val="0F04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71"/>
          <p:cNvSpPr/>
          <p:nvPr/>
        </p:nvSpPr>
        <p:spPr>
          <a:xfrm>
            <a:off x="4320000" y="836640"/>
            <a:ext cx="8781840" cy="14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861"/>
              </a:lnSpc>
              <a:spcBef>
                <a:spcPts val="850"/>
              </a:spcBef>
              <a:spcAft>
                <a:spcPts val="850"/>
              </a:spcAft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Open Sauce Medium"/>
                <a:ea typeface="Open Sauce Medium"/>
              </a:rPr>
              <a:t>A Massive opportunity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861"/>
              </a:lnSpc>
              <a:spcBef>
                <a:spcPts val="850"/>
              </a:spcBef>
              <a:spcAft>
                <a:spcPts val="850"/>
              </a:spcAft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75000"/>
                  </a:schemeClr>
                </a:solidFill>
                <a:effectLst/>
                <a:uFillTx/>
                <a:latin typeface="Open Sauce Medium"/>
                <a:ea typeface="Open Sauce Medium"/>
              </a:rPr>
              <a:t>in Latin America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oup 37"/>
          <p:cNvGrpSpPr/>
          <p:nvPr/>
        </p:nvGrpSpPr>
        <p:grpSpPr>
          <a:xfrm>
            <a:off x="900000" y="1800000"/>
            <a:ext cx="2260080" cy="1451160"/>
            <a:chOff x="900000" y="1800000"/>
            <a:chExt cx="2260080" cy="1451160"/>
          </a:xfrm>
        </p:grpSpPr>
        <p:sp>
          <p:nvSpPr>
            <p:cNvPr id="90" name="Freeform 52"/>
            <p:cNvSpPr/>
            <p:nvPr/>
          </p:nvSpPr>
          <p:spPr>
            <a:xfrm>
              <a:off x="900000" y="1800000"/>
              <a:ext cx="2260080" cy="1451160"/>
            </a:xfrm>
            <a:custGeom>
              <a:avLst/>
              <a:gdLst>
                <a:gd name="textAreaLeft" fmla="*/ 0 w 2260080"/>
                <a:gd name="textAreaRight" fmla="*/ 2262600 w 2260080"/>
                <a:gd name="textAreaTop" fmla="*/ 0 h 1451160"/>
                <a:gd name="textAreaBottom" fmla="*/ 1453680 h 1451160"/>
              </a:gdLst>
              <a:ahLst/>
              <a:cxnLst/>
              <a:rect l="textAreaLeft" t="textAreaTop" r="textAreaRight" b="textAreaBottom"/>
              <a:pathLst>
                <a:path w="595870" h="382819">
                  <a:moveTo>
                    <a:pt x="99236" y="0"/>
                  </a:moveTo>
                  <a:lnTo>
                    <a:pt x="496634" y="0"/>
                  </a:lnTo>
                  <a:cubicBezTo>
                    <a:pt x="522953" y="0"/>
                    <a:pt x="548194" y="10455"/>
                    <a:pt x="566804" y="29066"/>
                  </a:cubicBezTo>
                  <a:cubicBezTo>
                    <a:pt x="585415" y="47676"/>
                    <a:pt x="595870" y="72917"/>
                    <a:pt x="595870" y="99236"/>
                  </a:cubicBezTo>
                  <a:lnTo>
                    <a:pt x="595870" y="283583"/>
                  </a:lnTo>
                  <a:cubicBezTo>
                    <a:pt x="595870" y="338389"/>
                    <a:pt x="551440" y="382819"/>
                    <a:pt x="496634" y="382819"/>
                  </a:cubicBezTo>
                  <a:lnTo>
                    <a:pt x="99236" y="382819"/>
                  </a:lnTo>
                  <a:cubicBezTo>
                    <a:pt x="44429" y="382819"/>
                    <a:pt x="0" y="338389"/>
                    <a:pt x="0" y="283583"/>
                  </a:cubicBezTo>
                  <a:lnTo>
                    <a:pt x="0" y="99236"/>
                  </a:lnTo>
                  <a:cubicBezTo>
                    <a:pt x="0" y="44429"/>
                    <a:pt x="44429" y="0"/>
                    <a:pt x="99236" y="0"/>
                  </a:cubicBezTo>
                  <a:close/>
                </a:path>
              </a:pathLst>
            </a:custGeom>
            <a:noFill/>
            <a:ln cap="rnd" w="1905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extBox 72"/>
            <p:cNvSpPr/>
            <p:nvPr/>
          </p:nvSpPr>
          <p:spPr>
            <a:xfrm>
              <a:off x="900000" y="1800000"/>
              <a:ext cx="2260080" cy="145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2" name="TextBox 73"/>
          <p:cNvSpPr/>
          <p:nvPr/>
        </p:nvSpPr>
        <p:spPr>
          <a:xfrm>
            <a:off x="1273680" y="2034360"/>
            <a:ext cx="21200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323"/>
              </a:lnSpc>
              <a:tabLst>
                <a:tab pos="0" algn="l"/>
              </a:tabLst>
            </a:pPr>
            <a:r>
              <a:rPr lang="en-US" sz="4200" b="1" u="none" spc="-187" strike="noStrike">
                <a:solidFill>
                  <a:schemeClr val="lt1"/>
                </a:solidFill>
                <a:effectLst/>
                <a:uFillTx/>
                <a:latin typeface="Open Sauce Medium"/>
                <a:ea typeface="Open Sauce Medium"/>
              </a:rPr>
              <a:t>86M+</a:t>
            </a:r>
            <a:endParaRPr lang="pt-BR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74"/>
          <p:cNvSpPr/>
          <p:nvPr/>
        </p:nvSpPr>
        <p:spPr>
          <a:xfrm>
            <a:off x="1267200" y="2669400"/>
            <a:ext cx="1545120" cy="2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1698"/>
              </a:lnSpc>
              <a:tabLst>
                <a:tab pos="0" algn="l"/>
              </a:tabLst>
            </a:pPr>
            <a:r>
              <a:rPr lang="en-US" sz="1300" b="0" i="1" u="none" spc="-40" strike="noStrike">
                <a:solidFill>
                  <a:srgbClr val="FFFFFF"/>
                </a:solidFill>
                <a:effectLst/>
                <a:uFillTx/>
                <a:latin typeface="Aileron Italics"/>
                <a:ea typeface="Aileron Italics"/>
              </a:rPr>
              <a:t>Qualified Professionals 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4" name="Group 4"/>
          <p:cNvGrpSpPr/>
          <p:nvPr/>
        </p:nvGrpSpPr>
        <p:grpSpPr>
          <a:xfrm>
            <a:off x="11700000" y="2770920"/>
            <a:ext cx="6118560" cy="3527640"/>
            <a:chOff x="11700000" y="2770920"/>
            <a:chExt cx="6118560" cy="3527640"/>
          </a:xfrm>
        </p:grpSpPr>
        <p:sp>
          <p:nvSpPr>
            <p:cNvPr id="95" name="Freeform 1"/>
            <p:cNvSpPr/>
            <p:nvPr/>
          </p:nvSpPr>
          <p:spPr>
            <a:xfrm>
              <a:off x="11700000" y="2770920"/>
              <a:ext cx="6118560" cy="3527640"/>
            </a:xfrm>
            <a:custGeom>
              <a:avLst/>
              <a:gdLst>
                <a:gd name="textAreaLeft" fmla="*/ 0 w 6118560"/>
                <a:gd name="textAreaRight" fmla="*/ 6121080 w 6118560"/>
                <a:gd name="textAreaTop" fmla="*/ 0 h 3527640"/>
                <a:gd name="textAreaBottom" fmla="*/ 3530160 h 3527640"/>
              </a:gdLst>
              <a:ahLst/>
              <a:cxnLst/>
              <a:rect l="textAreaLeft" t="textAreaTop" r="textAreaRight" b="textAreaBottom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573F9D"/>
                </a:gs>
                <a:gs pos="50000">
                  <a:srgbClr val="332069"/>
                </a:gs>
                <a:gs pos="100000">
                  <a:srgbClr val="0F042D"/>
                </a:gs>
              </a:gsLst>
              <a:lin ang="2700000"/>
            </a:gradFill>
            <a:ln cap="rnd" w="1905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TextBox 3"/>
            <p:cNvSpPr/>
            <p:nvPr/>
          </p:nvSpPr>
          <p:spPr>
            <a:xfrm>
              <a:off x="11700000" y="2770920"/>
              <a:ext cx="6118560" cy="352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7" name="TextBox 4"/>
          <p:cNvSpPr/>
          <p:nvPr/>
        </p:nvSpPr>
        <p:spPr>
          <a:xfrm>
            <a:off x="11943720" y="1878120"/>
            <a:ext cx="570816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pc="-8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Annual unemployment rate among people with a bachelor's degree or higher 2025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47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11930400" y="5940000"/>
            <a:ext cx="57081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47"/>
              </a:lnSpc>
              <a:tabLst>
                <a:tab pos="0" algn="l"/>
              </a:tabLst>
            </a:pPr>
            <a:r>
              <a:rPr lang="en-US" sz="1200" b="0" u="none" spc="-8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Source: ILOSTAT / ILO. Indicator: Unemployment rate by sex and education (%). Annual. 2025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"/>
          <p:cNvPicPr/>
          <p:nvPr/>
        </p:nvPicPr>
        <p:blipFill>
          <a:blip r:embed="rId4"/>
          <a:stretch/>
        </p:blipFill>
        <p:spPr>
          <a:xfrm>
            <a:off x="11916000" y="2630160"/>
            <a:ext cx="5502960" cy="366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11520000" y="6480000"/>
            <a:ext cx="6478920" cy="359892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5"/>
          <a:stretch/>
        </p:blipFill>
        <p:spPr>
          <a:xfrm>
            <a:off x="12067560" y="6591240"/>
            <a:ext cx="5175720" cy="345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46"/>
          <p:cNvSpPr/>
          <p:nvPr/>
        </p:nvSpPr>
        <p:spPr>
          <a:xfrm>
            <a:off x="5761800" y="1080000"/>
            <a:ext cx="611820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4861"/>
              </a:lnSpc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Open Sauce Medium"/>
                <a:ea typeface="Open Sauce Medium"/>
              </a:rPr>
              <a:t>How It Works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/>
          <p:cNvPicPr/>
          <p:nvPr/>
        </p:nvPicPr>
        <p:blipFill>
          <a:blip r:embed="rId2"/>
          <a:stretch/>
        </p:blipFill>
        <p:spPr>
          <a:xfrm>
            <a:off x="299160" y="1944000"/>
            <a:ext cx="17587080" cy="59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4"/>
          <p:cNvSpPr/>
          <p:nvPr/>
        </p:nvSpPr>
        <p:spPr>
          <a:xfrm>
            <a:off x="1242720" y="7884000"/>
            <a:ext cx="1582128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Open Sauce Medium"/>
              </a:rPr>
              <a:t>From your profile to new opportunities —</a:t>
            </a:r>
            <a:endParaRPr lang="en-US" sz="6000" b="1" u="none" spc="-247" strike="noStrike">
              <a:solidFill>
                <a:schemeClr val="lt1">
                  <a:lumMod val="65000"/>
                </a:schemeClr>
              </a:solidFill>
              <a:effectLst/>
              <a:uFillTx/>
              <a:latin typeface="Open Sauce Medium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pc="-247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Open Sauce Medium"/>
              </a:rPr>
              <a:t>an intelligent journey.</a:t>
            </a:r>
            <a:endParaRPr lang="en-US" sz="6000" b="1" u="none" spc="-247" strike="noStrike">
              <a:solidFill>
                <a:schemeClr val="lt1">
                  <a:lumMod val="65000"/>
                </a:schemeClr>
              </a:solidFill>
              <a:effectLst/>
              <a:uFillTx/>
              <a:latin typeface="Open Sauce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0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9"/>
          <p:cNvSpPr/>
          <p:nvPr/>
        </p:nvSpPr>
        <p:spPr>
          <a:xfrm>
            <a:off x="1029240" y="1342440"/>
            <a:ext cx="14132880" cy="24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8000" b="1" u="none" spc="-717" strike="noStrike">
                <a:solidFill>
                  <a:srgbClr val="EFEFEF">
                    <a:alpha val="83000"/>
                  </a:srgbClr>
                </a:solidFill>
                <a:effectLst/>
                <a:uFillTx/>
                <a:latin typeface="Open Sauce Medium"/>
                <a:ea typeface="Open Sauce Medium"/>
              </a:rPr>
              <a:t>The Future of intelligent career management</a:t>
            </a:r>
            <a:endParaRPr lang="pt-BR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2"/>
          <a:stretch/>
        </p:blipFill>
        <p:spPr>
          <a:xfrm>
            <a:off x="78840" y="0"/>
            <a:ext cx="3159000" cy="127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9" name="Group 26"/>
          <p:cNvGrpSpPr/>
          <p:nvPr/>
        </p:nvGrpSpPr>
        <p:grpSpPr>
          <a:xfrm>
            <a:off x="3339000" y="4390560"/>
            <a:ext cx="4939200" cy="3347640"/>
            <a:chOff x="3339000" y="4390560"/>
            <a:chExt cx="4939200" cy="3347640"/>
          </a:xfrm>
        </p:grpSpPr>
        <p:sp>
          <p:nvSpPr>
            <p:cNvPr id="110" name="Freeform 15"/>
            <p:cNvSpPr/>
            <p:nvPr/>
          </p:nvSpPr>
          <p:spPr>
            <a:xfrm>
              <a:off x="3339000" y="4390560"/>
              <a:ext cx="4939200" cy="3347640"/>
            </a:xfrm>
            <a:custGeom>
              <a:avLst/>
              <a:gdLst>
                <a:gd name="textAreaLeft" fmla="*/ 0 w 4939200"/>
                <a:gd name="textAreaRight" fmla="*/ 4941720 w 4939200"/>
                <a:gd name="textAreaTop" fmla="*/ 0 h 3347640"/>
                <a:gd name="textAreaBottom" fmla="*/ 3350160 h 3347640"/>
              </a:gdLst>
              <a:ahLst/>
              <a:cxnLst/>
              <a:rect l="textAreaLeft" t="textAreaTop" r="textAreaRight" b="textAreaBottom"/>
              <a:pathLst>
                <a:path w="1301513" h="882370">
                  <a:moveTo>
                    <a:pt x="56400" y="0"/>
                  </a:moveTo>
                  <a:lnTo>
                    <a:pt x="1245113" y="0"/>
                  </a:lnTo>
                  <a:cubicBezTo>
                    <a:pt x="1276262" y="0"/>
                    <a:pt x="1301513" y="25251"/>
                    <a:pt x="1301513" y="56400"/>
                  </a:cubicBezTo>
                  <a:lnTo>
                    <a:pt x="1301513" y="825971"/>
                  </a:lnTo>
                  <a:cubicBezTo>
                    <a:pt x="1301513" y="857119"/>
                    <a:pt x="1276262" y="882370"/>
                    <a:pt x="1245113" y="882370"/>
                  </a:cubicBezTo>
                  <a:lnTo>
                    <a:pt x="56400" y="882370"/>
                  </a:lnTo>
                  <a:cubicBezTo>
                    <a:pt x="25251" y="882370"/>
                    <a:pt x="0" y="857119"/>
                    <a:pt x="0" y="825971"/>
                  </a:cubicBezTo>
                  <a:lnTo>
                    <a:pt x="0" y="56400"/>
                  </a:lnTo>
                  <a:cubicBezTo>
                    <a:pt x="0" y="25251"/>
                    <a:pt x="25251" y="0"/>
                    <a:pt x="564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573F9D"/>
                </a:gs>
                <a:gs pos="50000">
                  <a:srgbClr val="332069"/>
                </a:gs>
                <a:gs pos="100000">
                  <a:srgbClr val="0F042D"/>
                </a:gs>
              </a:gsLst>
              <a:lin ang="2700000"/>
            </a:gradFill>
            <a:ln cap="rnd" w="19050">
              <a:solidFill>
                <a:srgbClr val="EFEF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TextBox 22"/>
            <p:cNvSpPr/>
            <p:nvPr/>
          </p:nvSpPr>
          <p:spPr>
            <a:xfrm>
              <a:off x="3339000" y="4390560"/>
              <a:ext cx="4939200" cy="334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2" name="TextBox 25"/>
          <p:cNvSpPr/>
          <p:nvPr/>
        </p:nvSpPr>
        <p:spPr>
          <a:xfrm>
            <a:off x="3830040" y="4617360"/>
            <a:ext cx="408816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47"/>
              </a:lnSpc>
              <a:tabLst>
                <a:tab pos="0" algn="l"/>
              </a:tabLst>
            </a:pPr>
            <a:r>
              <a:rPr lang="en-US" sz="1990" b="1" u="none" spc="-8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FASE 2 — Career Intelligence (2027–2028)</a:t>
            </a:r>
            <a:endParaRPr lang="pt-BR" sz="19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AutoShape 1"/>
          <p:cNvSpPr/>
          <p:nvPr/>
        </p:nvSpPr>
        <p:spPr>
          <a:xfrm>
            <a:off x="3906720" y="5290920"/>
            <a:ext cx="401364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8"/>
          <p:cNvSpPr/>
          <p:nvPr/>
        </p:nvSpPr>
        <p:spPr>
          <a:xfrm>
            <a:off x="3855240" y="5374440"/>
            <a:ext cx="4062600" cy="13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078"/>
              </a:lnSpc>
              <a:tabLst>
                <a:tab pos="0" algn="l"/>
              </a:tabLst>
            </a:pP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Skills Gap Analysis &amp; Learning Paths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Salary Intelligence &amp; Negotiation Tools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Interview Preparation AI Coach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78"/>
              </a:lnSpc>
              <a:tabLst>
                <a:tab pos="0" algn="l"/>
              </a:tabLst>
            </a:pPr>
            <a:r>
              <a:rPr lang="en-US" sz="2000" b="0" i="1" u="none" spc="-51" strike="noStrike">
                <a:solidFill>
                  <a:srgbClr val="EFEFEF"/>
                </a:solidFill>
                <a:effectLst/>
                <a:uFillTx/>
                <a:latin typeface="Aileron Italics"/>
                <a:ea typeface="Aileron Italics"/>
              </a:rPr>
              <a:t>• AI Language Assessment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5" name="Group 28"/>
          <p:cNvGrpSpPr/>
          <p:nvPr/>
        </p:nvGrpSpPr>
        <p:grpSpPr>
          <a:xfrm>
            <a:off x="13662720" y="1620000"/>
            <a:ext cx="3399480" cy="7155000"/>
            <a:chOff x="13662720" y="1620000"/>
            <a:chExt cx="3399480" cy="7155000"/>
          </a:xfrm>
        </p:grpSpPr>
        <p:sp>
          <p:nvSpPr>
            <p:cNvPr id="116" name="Freeform 18"/>
            <p:cNvSpPr/>
            <p:nvPr/>
          </p:nvSpPr>
          <p:spPr>
            <a:xfrm>
              <a:off x="13662720" y="1620000"/>
              <a:ext cx="3399480" cy="7155000"/>
            </a:xfrm>
            <a:custGeom>
              <a:avLst/>
              <a:gdLst>
                <a:gd name="textAreaLeft" fmla="*/ 0 w 3399480"/>
                <a:gd name="textAreaRight" fmla="*/ 3402000 w 3399480"/>
                <a:gd name="textAreaTop" fmla="*/ 0 h 7155000"/>
                <a:gd name="textAreaBottom" fmla="*/ 7157520 h 7155000"/>
              </a:gdLst>
              <a:ahLst/>
              <a:cxnLst/>
              <a:rect l="textAreaLeft" t="textAreaTop" r="textAreaRight" b="textAreaBottom"/>
              <a:pathLst>
                <a:path w="352977" h="742661">
                  <a:moveTo>
                    <a:pt x="81927" y="0"/>
                  </a:moveTo>
                  <a:lnTo>
                    <a:pt x="271049" y="0"/>
                  </a:lnTo>
                  <a:cubicBezTo>
                    <a:pt x="292778" y="0"/>
                    <a:pt x="313616" y="8632"/>
                    <a:pt x="328981" y="23996"/>
                  </a:cubicBezTo>
                  <a:cubicBezTo>
                    <a:pt x="344345" y="39360"/>
                    <a:pt x="352977" y="60199"/>
                    <a:pt x="352977" y="81927"/>
                  </a:cubicBezTo>
                  <a:lnTo>
                    <a:pt x="352977" y="660734"/>
                  </a:lnTo>
                  <a:cubicBezTo>
                    <a:pt x="352977" y="682462"/>
                    <a:pt x="344345" y="703301"/>
                    <a:pt x="328981" y="718665"/>
                  </a:cubicBezTo>
                  <a:cubicBezTo>
                    <a:pt x="313616" y="734030"/>
                    <a:pt x="292778" y="742661"/>
                    <a:pt x="271049" y="742661"/>
                  </a:cubicBezTo>
                  <a:lnTo>
                    <a:pt x="81927" y="742661"/>
                  </a:lnTo>
                  <a:cubicBezTo>
                    <a:pt x="60199" y="742661"/>
                    <a:pt x="39360" y="734030"/>
                    <a:pt x="23996" y="718665"/>
                  </a:cubicBezTo>
                  <a:cubicBezTo>
                    <a:pt x="8632" y="703301"/>
                    <a:pt x="0" y="682462"/>
                    <a:pt x="0" y="660734"/>
                  </a:cubicBezTo>
                  <a:lnTo>
                    <a:pt x="0" y="81927"/>
                  </a:lnTo>
                  <a:cubicBezTo>
                    <a:pt x="0" y="60199"/>
                    <a:pt x="8632" y="39360"/>
                    <a:pt x="23996" y="23996"/>
                  </a:cubicBezTo>
                  <a:cubicBezTo>
                    <a:pt x="39360" y="8632"/>
                    <a:pt x="60199" y="0"/>
                    <a:pt x="81927" y="0"/>
                  </a:cubicBezTo>
                  <a:close/>
                </a:path>
              </a:pathLst>
            </a:custGeom>
            <a:blipFill rotWithShape="0">
              <a:blip r:embed="rId3">
                <a:alphaModFix amt="68000"/>
              </a:blip>
              <a:srcRect/>
              <a:stretch/>
            </a:blipFill>
            <a:ln cap="rnd" w="9525">
              <a:solidFill>
                <a:srgbClr val="0F042D">
                  <a:alpha val="68000"/>
                </a:srgb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7" name="Group 29"/>
          <p:cNvGrpSpPr/>
          <p:nvPr/>
        </p:nvGrpSpPr>
        <p:grpSpPr>
          <a:xfrm>
            <a:off x="9000360" y="5400000"/>
            <a:ext cx="3966840" cy="756720"/>
            <a:chOff x="9000360" y="5400000"/>
            <a:chExt cx="3966840" cy="756720"/>
          </a:xfrm>
        </p:grpSpPr>
        <p:sp>
          <p:nvSpPr>
            <p:cNvPr id="118" name="Freeform 21"/>
            <p:cNvSpPr/>
            <p:nvPr/>
          </p:nvSpPr>
          <p:spPr>
            <a:xfrm>
              <a:off x="9000360" y="5400000"/>
              <a:ext cx="3966840" cy="756720"/>
            </a:xfrm>
            <a:custGeom>
              <a:avLst/>
              <a:gdLst>
                <a:gd name="textAreaLeft" fmla="*/ 0 w 3966840"/>
                <a:gd name="textAreaRight" fmla="*/ 3969360 w 3966840"/>
                <a:gd name="textAreaTop" fmla="*/ 0 h 756720"/>
                <a:gd name="textAreaBottom" fmla="*/ 759240 h 756720"/>
              </a:gdLst>
              <a:ahLst/>
              <a:cxnLst/>
              <a:rect l="textAreaLeft" t="textAreaTop" r="textAreaRight" b="textAreaBottom"/>
              <a:pathLst>
                <a:path w="2838855" h="406400">
                  <a:moveTo>
                    <a:pt x="2635655" y="0"/>
                  </a:moveTo>
                  <a:cubicBezTo>
                    <a:pt x="2747879" y="0"/>
                    <a:pt x="2838855" y="90976"/>
                    <a:pt x="2838855" y="203200"/>
                  </a:cubicBezTo>
                  <a:cubicBezTo>
                    <a:pt x="2838855" y="315424"/>
                    <a:pt x="2747879" y="406400"/>
                    <a:pt x="263565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F062D"/>
                </a:gs>
                <a:gs pos="20000">
                  <a:srgbClr val="0F062D"/>
                </a:gs>
                <a:gs pos="40000">
                  <a:srgbClr val="0F062D">
                    <a:alpha val="84000"/>
                  </a:srgbClr>
                </a:gs>
                <a:gs pos="60000">
                  <a:srgbClr val="0F062D">
                    <a:alpha val="62000"/>
                  </a:srgbClr>
                </a:gs>
                <a:gs pos="80000">
                  <a:srgbClr val="0F062D">
                    <a:alpha val="38000"/>
                  </a:srgbClr>
                </a:gs>
                <a:gs pos="100000">
                  <a:srgbClr val="0F062D">
                    <a:alpha val="0"/>
                  </a:srgbClr>
                </a:gs>
              </a:gsLst>
              <a:lin ang="0"/>
            </a:gradFill>
            <a:ln cap="sq" w="9525">
              <a:solidFill>
                <a:srgbClr val="EFEFE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30"/>
            <p:cNvSpPr/>
            <p:nvPr/>
          </p:nvSpPr>
          <p:spPr>
            <a:xfrm>
              <a:off x="9000360" y="5400000"/>
              <a:ext cx="3966840" cy="75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0" name="TextBox 31"/>
          <p:cNvSpPr/>
          <p:nvPr/>
        </p:nvSpPr>
        <p:spPr>
          <a:xfrm>
            <a:off x="8964360" y="5472000"/>
            <a:ext cx="4137840" cy="54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"Job seekers don't need more job boards. 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132"/>
              </a:lnSpc>
              <a:tabLst>
                <a:tab pos="0" algn="l"/>
              </a:tabLst>
            </a:pPr>
            <a:r>
              <a:rPr lang="en-US" sz="1400" b="1" u="none" spc="-108" strike="noStrike">
                <a:solidFill>
                  <a:srgbClr val="EFEFEF"/>
                </a:solidFill>
                <a:effectLst/>
                <a:uFillTx/>
                <a:latin typeface="Open Sauce Medium"/>
                <a:ea typeface="Open Sauce Medium"/>
              </a:rPr>
              <a:t>They need intelligence."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DAHRbycup0s</dc:identifier>
  <dc:language>pt-BR</dc:language>
  <cp:lastModifiedBy/>
  <dcterms:modified xsi:type="dcterms:W3CDTF">2026-09-04T19:19:50Z</dcterms:modified>
  <cp:revision>16</cp:revision>
  <dc:subject/>
  <dc:title>Kadima: Intelligent Career Platform
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